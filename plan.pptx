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생산량(톤)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E2B2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42500</c:v>
                </c:pt>
                <c:pt idx="1">
                  <c:v>52000</c:v>
                </c:pt>
                <c:pt idx="2">
                  <c:v>58000</c:v>
                </c:pt>
                <c:pt idx="3">
                  <c:v>36000</c:v>
                </c:pt>
                <c:pt idx="4">
                  <c:v>43000</c:v>
                </c:pt>
                <c:pt idx="5">
                  <c:v>44500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E2B2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7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00"/>
          <c:min val="30000"/>
        </c:scaling>
        <c:delete val="0"/>
        <c:axPos val="l"/>
        <c:majorGridlines>
          <c:spPr>
            <a:ln w="9525" cap="flat">
              <a:solidFill>
                <a:srgbClr val="E2EC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777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7776"/>
                    </a:solidFill>
                    <a:latin typeface="Arial"/>
                  </a:rPr>
                  <a:t>생산량(톤)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아리수(상)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7월초</c:v>
                  </c:pt>
                  <c:pt idx="1">
                    <c:v>7월중</c:v>
                  </c:pt>
                  <c:pt idx="2">
                    <c:v>8월초</c:v>
                  </c:pt>
                  <c:pt idx="3">
                    <c:v>8월중</c:v>
                  </c:pt>
                  <c:pt idx="4">
                    <c:v>9월초</c:v>
                  </c:pt>
                  <c:pt idx="5">
                    <c:v>9월중</c:v>
                  </c:pt>
                  <c:pt idx="6">
                    <c:v>10월초</c:v>
                  </c:pt>
                  <c:pt idx="7">
                    <c:v>10월중</c:v>
                  </c:pt>
                  <c:pt idx="8">
                    <c:v>11월초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70000</c:v>
                </c:pt>
                <c:pt idx="4">
                  <c:v>95000</c:v>
                </c:pt>
                <c:pt idx="5">
                  <c:v>118000</c:v>
                </c:pt>
                <c:pt idx="6">
                  <c:v>105000</c:v>
                </c:pt>
                <c:pt idx="7">
                  <c:v>62000</c:v>
                </c:pt>
                <c:pt idx="8">
                  <c:v>40000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홍로(상)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7월초</c:v>
                  </c:pt>
                  <c:pt idx="1">
                    <c:v>7월중</c:v>
                  </c:pt>
                  <c:pt idx="2">
                    <c:v>8월초</c:v>
                  </c:pt>
                  <c:pt idx="3">
                    <c:v>8월중</c:v>
                  </c:pt>
                  <c:pt idx="4">
                    <c:v>9월초</c:v>
                  </c:pt>
                  <c:pt idx="5">
                    <c:v>9월중</c:v>
                  </c:pt>
                  <c:pt idx="6">
                    <c:v>10월초</c:v>
                  </c:pt>
                  <c:pt idx="7">
                    <c:v>10월중</c:v>
                  </c:pt>
                  <c:pt idx="8">
                    <c:v>11월초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72000</c:v>
                </c:pt>
                <c:pt idx="1">
                  <c:v>88000</c:v>
                </c:pt>
                <c:pt idx="2">
                  <c:v>110000</c:v>
                </c:pt>
                <c:pt idx="3">
                  <c:v>100000</c:v>
                </c:pt>
                <c:pt idx="4">
                  <c:v>78000</c:v>
                </c:pt>
                <c:pt idx="5">
                  <c:v>60000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썸머킹(상)</c:v>
                </c:pt>
              </c:strCache>
            </c:strRef>
          </c:tx>
          <c:spPr>
            <a:solidFill>
              <a:srgbClr val="5C7776"/>
            </a:solidFill>
            <a:ln w="31750" cap="flat">
              <a:solidFill>
                <a:srgbClr val="5C77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C7776"/>
              </a:solidFill>
              <a:ln w="9525" cap="flat">
                <a:solidFill>
                  <a:srgbClr val="5C77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7월초</c:v>
                  </c:pt>
                  <c:pt idx="1">
                    <c:v>7월중</c:v>
                  </c:pt>
                  <c:pt idx="2">
                    <c:v>8월초</c:v>
                  </c:pt>
                  <c:pt idx="3">
                    <c:v>8월중</c:v>
                  </c:pt>
                  <c:pt idx="4">
                    <c:v>9월초</c:v>
                  </c:pt>
                  <c:pt idx="5">
                    <c:v>9월중</c:v>
                  </c:pt>
                  <c:pt idx="6">
                    <c:v>10월초</c:v>
                  </c:pt>
                  <c:pt idx="7">
                    <c:v>10월중</c:v>
                  </c:pt>
                  <c:pt idx="8">
                    <c:v>11월초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64000</c:v>
                </c:pt>
                <c:pt idx="1">
                  <c:v>60000</c:v>
                </c:pt>
                <c:pt idx="2">
                  <c:v>55000</c:v>
                </c:pt>
                <c:pt idx="3">
                  <c:v>47000</c:v>
                </c:pt>
                <c:pt idx="4">
                  <c:v>41000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7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C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777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7776"/>
                    </a:solidFill>
                    <a:latin typeface="Arial"/>
                  </a:rPr>
                  <a:t>평균가(원)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1E2B2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 도매가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4주차(예상)</c:v>
                  </c:pt>
                  <c:pt idx="4">
                    <c:v>5주차</c:v>
                  </c:pt>
                  <c:pt idx="5">
                    <c:v>6주차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32000</c:v>
                </c:pt>
                <c:pt idx="1">
                  <c:v>30500</c:v>
                </c:pt>
                <c:pt idx="2">
                  <c:v>38000</c:v>
                </c:pt>
                <c:pt idx="3">
                  <c:v>46000</c:v>
                </c:pt>
                <c:pt idx="4">
                  <c:v>42500</c:v>
                </c:pt>
                <c:pt idx="5">
                  <c:v>39500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7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51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충청북도 공공데이터 · AI 활용 창업경진대회  |  아이디어 기획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충북 사과 스마트 유통 플랫폼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공공데이터와 AI 시계열 예측을 융합한 농산물 유통 혁신 솔루션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041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기후 변화로 흔들리는 '금사과' 시장 — 데이터와 AI로 농가와 소비자를 함께 지킵니다.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1~4주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도매가 예측 기간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6908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069080" y="5623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농가 수익성 개선 목표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3종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0" y="5623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융합 공공데이터(기상·경락가·생산량)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참가자(팀)명 : 여선희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250" spc="150" kern="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· 배경 · 문제 제시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제안 배경 — 기후 변화가 낳은 '금사과' 현상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극심한 기후 변화(냉해·폭염·우박)로 인한 생산량의 예측 불가능성과 복잡한 다단계 유통 구조는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'금사과'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불리는 물가 폭등 현상을 초래했습니다. 이는 농가의 수익 변동성을 심화시키고 소비자 체감 물가를 급등시켰습니다.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935224"/>
            <a:ext cx="566928" cy="566928"/>
          </a:xfrm>
          <a:prstGeom prst="ellipse">
            <a:avLst/>
          </a:prstGeom>
          <a:solidFill>
            <a:srgbClr val="D7F3EF"/>
          </a:solidFill>
          <a:ln/>
        </p:spPr>
      </p:sp>
      <p:pic>
        <p:nvPicPr>
          <p:cNvPr id="7" name="Image 0" descr="icons/thermome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0632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6118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생산량 급감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9319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고온·냉해·우박 등 기후 이변으로 전통적 사과 작황 예측 모델이 한계에 봉착, 공급 부족에 따른 소매가 폭등이 발생합니다.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2697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935224"/>
            <a:ext cx="566928" cy="566928"/>
          </a:xfrm>
          <a:prstGeom prst="ellipse">
            <a:avLst/>
          </a:prstGeom>
          <a:solidFill>
            <a:srgbClr val="D7F3EF"/>
          </a:solidFill>
          <a:ln/>
        </p:spPr>
      </p:sp>
      <p:pic>
        <p:nvPicPr>
          <p:cNvPr id="12" name="Image 1" descr="icons/chart_pr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0632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6118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가격 변동성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5152" y="39319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경락 가격이 극심하게 등락하며, 출하 타이밍에 따라 농가가 체감하는 수익이 크게 갈리는 불안정한 구조입니다.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697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935224"/>
            <a:ext cx="566928" cy="566928"/>
          </a:xfrm>
          <a:prstGeom prst="ellipse">
            <a:avLst/>
          </a:prstGeom>
          <a:solidFill>
            <a:srgbClr val="D7F3EF"/>
          </a:solidFill>
          <a:ln/>
        </p:spPr>
      </p:sp>
      <p:pic>
        <p:nvPicPr>
          <p:cNvPr id="17" name="Image 2" descr="icons/cloud_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0632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6118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물가 불안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94192" y="39319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사과는 신선식품 물가지수의 주요 상승 요인으로, 소비자 체감 물가에 직접적인 영향을 미치고 있습니다.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709160"/>
            <a:ext cx="10908792" cy="1508760"/>
          </a:xfrm>
          <a:prstGeom prst="roundRect">
            <a:avLst>
              <a:gd name="adj" fmla="val 4848"/>
            </a:avLst>
          </a:prstGeom>
          <a:solidFill>
            <a:srgbClr val="D7F3EF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4873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제안 목적 · 주제 선정 이유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4400" y="5212080"/>
            <a:ext cx="1037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충북은 전국 대표 사과 산지(충주·보은)이지만, 기존 가격 정보 서비스는 전국 평균 데이터에 의존해 지역 미세기상을 반영하지 못합니다.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제안은 충북 특산물 사과에 특화된 스마트 유통 플랫폼을 통해 농가의 수익 변동성과 소비자 물가 불안을 동시에 해결하고자 합니다.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250" spc="150" kern="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· 배경 · 문제 제시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 — 유통 및 정보의 고질적 비효율성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29384"/>
            <a:ext cx="566928" cy="566928"/>
          </a:xfrm>
          <a:prstGeom prst="ellipse">
            <a:avLst/>
          </a:prstGeom>
          <a:solidFill>
            <a:srgbClr val="025159"/>
          </a:solidFill>
          <a:ln/>
        </p:spPr>
      </p:sp>
      <p:pic>
        <p:nvPicPr>
          <p:cNvPr id="6" name="Image 0" descr="icons/link_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574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2432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 비대칭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95351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농가는 정확한 도매가 추이를 알지 못해 적기 출하를 놓치고 수익을 최적화하지 못합니다.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929384"/>
            <a:ext cx="566928" cy="566928"/>
          </a:xfrm>
          <a:prstGeom prst="ellipse">
            <a:avLst/>
          </a:prstGeom>
          <a:solidFill>
            <a:srgbClr val="025159"/>
          </a:solidFill>
          <a:ln/>
        </p:spPr>
      </p:sp>
      <p:pic>
        <p:nvPicPr>
          <p:cNvPr id="11" name="Image 1" descr="icons/sw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5740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62432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복잡한 유통 구조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95351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 유통 단계로 인해 농가 수취가는 낮고, 소비자가 지불하는 최종 가격은 비합리적으로 높습니다.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929384"/>
            <a:ext cx="566928" cy="566928"/>
          </a:xfrm>
          <a:prstGeom prst="ellipse">
            <a:avLst/>
          </a:prstGeom>
          <a:solidFill>
            <a:srgbClr val="025159"/>
          </a:solidFill>
          <a:ln/>
        </p:spPr>
      </p:sp>
      <p:pic>
        <p:nvPicPr>
          <p:cNvPr id="16" name="Image 2" descr="icons/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05740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2432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단절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95351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 데이터와 시장 데이터가 개별 운영되어 작황과 가격 간의 상관 분석이 미흡한 실정입니다.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025159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1239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단기 도매가격 급등락 리스크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14400" y="4434840"/>
            <a:ext cx="10378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초기 프리미엄으로 높게 형성된 가격이 시장 내 물량이 집중되는 특정 시기에 며칠 만에 1~2만 원 이상 급락하는 패턴이 지속적으로 확인됩니다. 농가가 체감하는 최종 수익은 출하 타이밍에 따라 극명하게 갈리는 불안정한 구조입니다.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008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정보 서비스의 구조적 한계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" y="573328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시장의 농산물 가격 앱은 전국 평균 데이터에만 의존하여 충북 산지(충주·보은) 특유의 미세기상을 반영하지 못하며, 단순 과거 시세 나열에 그쳐 실질적인 출하 의사결정을 돕지 못하는 정보의 사각지대가 존재합니다.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51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250" spc="150" kern="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다차원 공공데이터 수집 및 통합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기상 관측 자료, 전국 도매시장 일일 경락 가격, 지역별 생산량 등 이종(異種) 공공데이터를 국가 표준 Open API로 연동하여 '충북형 사과 데이터셋'으로 통합합니다.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A3E45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551176"/>
            <a:ext cx="548640" cy="548640"/>
          </a:xfrm>
          <a:prstGeom prst="ellipse">
            <a:avLst/>
          </a:prstGeom>
          <a:solidFill>
            <a:srgbClr val="0F4F57"/>
          </a:solidFill>
          <a:ln/>
        </p:spPr>
      </p:sp>
      <p:pic>
        <p:nvPicPr>
          <p:cNvPr id="7" name="Image 0" descr="icons/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6700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200400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도매시장 경락가격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348386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서울시농수산식품공사 가락시장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37490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실제 경매 결과 및 도매가격 오픈 API를 연동하여 전국적인 실거래가 변동 추이를 실시간으로 수집합니다.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389120" y="23317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A3E45"/>
          </a:solidFill>
          <a:ln/>
        </p:spPr>
      </p:sp>
      <p:sp>
        <p:nvSpPr>
          <p:cNvPr id="12" name="Shape 9"/>
          <p:cNvSpPr/>
          <p:nvPr/>
        </p:nvSpPr>
        <p:spPr>
          <a:xfrm>
            <a:off x="4645152" y="2551176"/>
            <a:ext cx="548640" cy="548640"/>
          </a:xfrm>
          <a:prstGeom prst="ellipse">
            <a:avLst/>
          </a:prstGeom>
          <a:solidFill>
            <a:srgbClr val="0F4F57"/>
          </a:solidFill>
          <a:ln/>
        </p:spPr>
      </p:sp>
      <p:pic>
        <p:nvPicPr>
          <p:cNvPr id="13" name="Image 1" descr="icons/cloud_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67004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200400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기상관측 데이터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45152" y="348386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기상자료개방포털 (ASOS)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45152" y="37490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충주·보은 등 충북 주요 사과 산지의 종관기상관측 미세기상 데이터를 수집하여 기후 리스크를 분석합니다.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8138160" y="23317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A3E45"/>
          </a:solidFill>
          <a:ln/>
        </p:spPr>
      </p:sp>
      <p:sp>
        <p:nvSpPr>
          <p:cNvPr id="18" name="Shape 14"/>
          <p:cNvSpPr/>
          <p:nvPr/>
        </p:nvSpPr>
        <p:spPr>
          <a:xfrm>
            <a:off x="8394192" y="2551176"/>
            <a:ext cx="548640" cy="548640"/>
          </a:xfrm>
          <a:prstGeom prst="ellipse">
            <a:avLst/>
          </a:prstGeom>
          <a:solidFill>
            <a:srgbClr val="0F4F57"/>
          </a:solidFill>
          <a:ln/>
        </p:spPr>
      </p:sp>
      <p:pic>
        <p:nvPicPr>
          <p:cNvPr id="19" name="Image 2" descr="icons/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67004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94192" y="3200400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사과 생산량 통계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94192" y="348386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KOSIS 국가통계포털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394192" y="37490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과수생산량 데이터를 연동하여 시장 내 공급량 추이를 거시적으로 파악하고 수급 불균형 여부를 진단합니다.</a:t>
            </a:r>
            <a:endParaRPr lang="en-US" sz="980" dirty="0"/>
          </a:p>
        </p:txBody>
      </p:sp>
      <p:sp>
        <p:nvSpPr>
          <p:cNvPr id="23" name="Text 18"/>
          <p:cNvSpPr/>
          <p:nvPr/>
        </p:nvSpPr>
        <p:spPr>
          <a:xfrm>
            <a:off x="6400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수집 자동화 파이프라인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0080" y="50017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pic>
        <p:nvPicPr>
          <p:cNvPr id="25" name="Image 3" descr="icons/cloud_down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02936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53312" y="51846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353312" y="5404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공공데이터 수집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68680" y="57790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가락시장 경락가·ASOS 기상·연도별 생산량 API 연동</a:t>
            </a:r>
            <a:endParaRPr lang="en-US" sz="930" dirty="0"/>
          </a:p>
        </p:txBody>
      </p:sp>
      <p:sp>
        <p:nvSpPr>
          <p:cNvPr id="29" name="Text 23"/>
          <p:cNvSpPr/>
          <p:nvPr/>
        </p:nvSpPr>
        <p:spPr>
          <a:xfrm>
            <a:off x="4178808" y="5458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4389120" y="50017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pic>
        <p:nvPicPr>
          <p:cNvPr id="31" name="Image 4" descr="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5202936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102352" y="51846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102352" y="5404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 및 통합 (ETL)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617720" y="57790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상이한 기관별 데이터 형식을 충북형 사과 데이터셋으로 통합</a:t>
            </a:r>
            <a:endParaRPr lang="en-US" sz="930" dirty="0"/>
          </a:p>
        </p:txBody>
      </p:sp>
      <p:sp>
        <p:nvSpPr>
          <p:cNvPr id="35" name="Text 28"/>
          <p:cNvSpPr/>
          <p:nvPr/>
        </p:nvSpPr>
        <p:spPr>
          <a:xfrm>
            <a:off x="7927848" y="5458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8138160" y="50017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pic>
        <p:nvPicPr>
          <p:cNvPr id="37" name="Image 5" descr="icons/ap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5202936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851392" y="51846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8851392" y="5404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동기화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8366760" y="57790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경락가 발생 즉시 데이터 갱신 및 모델 재학습</a:t>
            </a:r>
            <a:endParaRPr lang="en-US" sz="930" dirty="0"/>
          </a:p>
        </p:txBody>
      </p:sp>
      <p:sp>
        <p:nvSpPr>
          <p:cNvPr id="41" name="Text 33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250" spc="150" kern="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충북 사과 생산량 변동성 시각화 (2020~2025)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960120" y="1783080"/>
          <a:ext cx="10287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D7F3E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59612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51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생산량이 전년 대비 약 38% 급감(36,063톤)하며 사상 초유의 수급 불균형과 가격 폭등을 초래했습니다. 이는 기상 이변과 밀접히 연관되어 있으며, 외부 기상 리스크에 대응하는 지능형 생산·출하 예측 시스템 도입이 필수적임을 시사합니다.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250" spc="150" kern="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2025년 주요 품종별 단기 도매가격 변동 추이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(10kg, 상(上) 등급 · 출하 시기별 평균가 패턴 재구성)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960120" y="1920240"/>
          <a:ext cx="10287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34924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D7F3EF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504688"/>
            <a:ext cx="10378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51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초기 프리미엄으로 높게 형성된 가격이 시장 내 물량이 집중되는 특정 시기에 단기적으로 급락하는 패턴이 반복됩니다. 불과 며칠 사이에도 1~2만 원 이상의 가격 낙폭이 발생하여, 농가가 체감하는 수익은 출하 타이밍에 따라 크게 갈립니다.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250" spc="150" kern="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 분석 — 기존 서비스 대비 차별적 경쟁 우위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324612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  <a:gridCol w="4416552"/>
              </a:tblGrid>
              <a:tr h="5410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구분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1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일반 가격 정보 앱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1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충북형 AI 모델 (본 제안)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기준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7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전국 평균 데이터 사용 (지역성 결여)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1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충주·보은 산지 미세기상 반영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3E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제공 정보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7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 과거·현재 시세 나열 위주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1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1~4주 뒤 AI 딥러닝 가격 예측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EE6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 변수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7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기상 변수 반영 미비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1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 + 경락가 하이브리드 AI 분석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3E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유통 연계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7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유통 경로 추천 기능 부재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1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예측가 기반 B2B/B2C 직거래 매칭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EE6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부가 가치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7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 정보 제공에 그침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51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지리적 표시제 가중치로 브랜드 가치 제고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3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025159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230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결론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553212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4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시장은 기상 및 수급 등 외부 변수에 의한 변동 리스크가 매우 큽니다. 단순 시세 나열형 서비스로는 이 리스크에 대응할 수 없으며, 지역 특화 하이브리드 AI 예측과 의사결정 지원 기능을 갖춘 솔루션이 필요함을 데이터로 확인했습니다.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51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250" spc="150" kern="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시계열 기반 가격 예측 엔진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0A3E45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756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하이브리드 AI 예측 엔진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624328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이종 공공데이터(기상·가격·생산량)를 융합 학습하여 1~4주 뒤 적정 도매가격을 딥러닝 기술로 고정밀 예측합니다.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0A3E45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94767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0756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스마트 출하 타이밍 알림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19672" y="2624328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도출한 가격 변동 곡선을 바탕으로 농가에 가장 높은 수익이 예상되는 최적의 출하 시기를 대시보드로 안내합니다.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0A3E45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00507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1330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050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자동 재학습 파이프라인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96112" y="4681728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경락가가 발생하는 즉시 예측 모델을 자동 업데이트하여 시장 변동성에 대한 예측 정확도를 지속 유지합니다.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63640" y="37490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0A3E45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9672" y="400507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13308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050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사전 작황 리스크 관리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19672" y="4681728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 이변 및 명절 특수 등 돌발 변수를 사전에 감지하고 경보를 발송하여 농가의 경영 안정성을 높입니다.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250" spc="150" kern="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스마트 출하 타이밍 알림 — 예측 대시보드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9494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주간 예측 도매가 곡선 (원/10kg)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2103120"/>
          <a:ext cx="6309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74920" y="2331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25159"/>
          </a:solidFill>
          <a:ln/>
        </p:spPr>
      </p:sp>
      <p:sp>
        <p:nvSpPr>
          <p:cNvPr id="8" name="Text 5"/>
          <p:cNvSpPr/>
          <p:nvPr/>
        </p:nvSpPr>
        <p:spPr>
          <a:xfrm>
            <a:off x="5074920" y="2331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최적 출하 시점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818120" y="1600200"/>
            <a:ext cx="3730752" cy="1874520"/>
          </a:xfrm>
          <a:prstGeom prst="roundRect">
            <a:avLst>
              <a:gd name="adj" fmla="val 3902"/>
            </a:avLst>
          </a:prstGeom>
          <a:solidFill>
            <a:srgbClr val="025159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신뢰도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92440" y="2011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8092440" y="2743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AI 모델의 4주 예측 신뢰 지수 (Confidence Index)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18120" y="3657600"/>
            <a:ext cx="37307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74152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대시보드 활용 방식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74152" y="41605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농가는 시각화된 곡선에서 수익이 가장 높은 시점을 직관적으로 확인</a:t>
            </a:r>
            <a:endParaRPr lang="en-US" sz="103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 이변·수급 불안정 감지 시 실시간 경보 발송</a:t>
            </a:r>
            <a:endParaRPr lang="en-US" sz="103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시점 선택에 따른 예상 수익 시뮬레이션 제공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1250" spc="150" kern="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인사이트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— 혁신이 창출하는 3대 상생 효과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01952"/>
            <a:ext cx="585216" cy="585216"/>
          </a:xfrm>
          <a:prstGeom prst="ellipse">
            <a:avLst/>
          </a:prstGeom>
          <a:solidFill>
            <a:srgbClr val="025159"/>
          </a:solidFill>
          <a:ln/>
        </p:spPr>
      </p:sp>
      <p:pic>
        <p:nvPicPr>
          <p:cNvPr id="6" name="Image 0" descr="icons/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060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농가 수익성 극대화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315468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출하 알림을 통해 농가의 수익을 15% 이상 개선하며, 기상 데이터 분석으로 작황 피해를 선제적으로 방어합니다.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896112" y="4114800"/>
            <a:ext cx="3008376" cy="594360"/>
          </a:xfrm>
          <a:prstGeom prst="roundRect">
            <a:avLst>
              <a:gd name="adj" fmla="val 9231"/>
            </a:avLst>
          </a:prstGeom>
          <a:solidFill>
            <a:srgbClr val="D7F3E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5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15%+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103120" y="4160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개선 목표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89120" y="16459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45152" y="1901952"/>
            <a:ext cx="585216" cy="585216"/>
          </a:xfrm>
          <a:prstGeom prst="ellipse">
            <a:avLst/>
          </a:prstGeom>
          <a:solidFill>
            <a:srgbClr val="025159"/>
          </a:solidFill>
          <a:ln/>
        </p:spPr>
      </p:sp>
      <p:pic>
        <p:nvPicPr>
          <p:cNvPr id="14" name="Image 1" descr="icons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03911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5152" y="26060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유통 최적화 및 직거래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645152" y="315468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가격을 기준으로 로컬 상권과 B2B/B2C 직거래를 자동 매칭하여 다단계 유통 수수료와 물류비를 대폭 절감합니다.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4645152" y="4114800"/>
            <a:ext cx="3008376" cy="594360"/>
          </a:xfrm>
          <a:prstGeom prst="roundRect">
            <a:avLst>
              <a:gd name="adj" fmla="val 9231"/>
            </a:avLst>
          </a:prstGeom>
          <a:solidFill>
            <a:srgbClr val="D7F3EF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5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매칭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5852160" y="4160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직거래 자동화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8138160" y="16459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25159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94192" y="1901952"/>
            <a:ext cx="585216" cy="585216"/>
          </a:xfrm>
          <a:prstGeom prst="ellipse">
            <a:avLst/>
          </a:prstGeom>
          <a:solidFill>
            <a:srgbClr val="025159"/>
          </a:solidFill>
          <a:ln/>
        </p:spPr>
      </p:sp>
      <p:pic>
        <p:nvPicPr>
          <p:cNvPr id="22" name="Image 2" descr="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39112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94192" y="26060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소비자 물가 안정 기여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394192" y="315468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 마진이 제거된 합리적인 가격대를 형성하여 가계 지출 부담을 완화하고, 충북 사과의 브랜드 가치를 제고합니다.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8394192" y="4114800"/>
            <a:ext cx="3008376" cy="594360"/>
          </a:xfrm>
          <a:prstGeom prst="roundRect">
            <a:avLst>
              <a:gd name="adj" fmla="val 9231"/>
            </a:avLst>
          </a:prstGeom>
          <a:solidFill>
            <a:srgbClr val="D7F3EF"/>
          </a:solidFill>
          <a:ln/>
        </p:spPr>
      </p:sp>
      <p:sp>
        <p:nvSpPr>
          <p:cNvPr id="26" name="Text 21"/>
          <p:cNvSpPr/>
          <p:nvPr/>
        </p:nvSpPr>
        <p:spPr>
          <a:xfrm>
            <a:off x="850392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5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합리적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9601200" y="4160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C7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가격대 형성</a:t>
            </a:r>
            <a:endParaRPr lang="en-US" sz="930" dirty="0"/>
          </a:p>
        </p:txBody>
      </p:sp>
      <p:sp>
        <p:nvSpPr>
          <p:cNvPr id="28" name="Text 23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51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1250" spc="150" kern="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인사이트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사회적 가치 창출과 핵심 인사이트</a:t>
            </a:r>
            <a:endParaRPr lang="en-US" sz="3000" dirty="0"/>
          </a:p>
        </p:txBody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36776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민주주의 실현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4128" y="1984248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이종 공공데이터의 융합·개방을 통해 정보 비대칭의 피해를 보던 농가에 동등한 데이터 접근성을 제공합니다.</a:t>
            </a:r>
            <a:endParaRPr lang="en-US" sz="1030" dirty="0"/>
          </a:p>
        </p:txBody>
      </p:sp>
      <p:pic>
        <p:nvPicPr>
          <p:cNvPr id="8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4650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01968" y="1636776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국가적 물가 안정 기여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601968" y="1984248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기후·유통 비효율이 낳은 '금사과' 현상과 물가 불안을 데이터 융합 기술로 실질적으로 해결합니다.</a:t>
            </a:r>
            <a:endParaRPr lang="en-US" sz="1030" dirty="0"/>
          </a:p>
        </p:txBody>
      </p:sp>
      <p:pic>
        <p:nvPicPr>
          <p:cNvPr id="1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352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2825496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지역 상생 생태계 구축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24128" y="3172968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사과 농가와 로컬 마트·카페·제과점 등 지역 상권을 직접 연결해 유통 마진을 최소화합니다.</a:t>
            </a:r>
            <a:endParaRPr lang="en-US" sz="1030" dirty="0"/>
          </a:p>
        </p:txBody>
      </p:sp>
      <p:pic>
        <p:nvPicPr>
          <p:cNvPr id="14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93522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01968" y="2825496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지역 브랜드 가치 제고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601968" y="3172968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지리적 표시제 가중치 적용으로 충북 사과(충주·보은)의 브랜드 가치와 지역 경제를 활성화합니다.</a:t>
            </a:r>
            <a:endParaRPr lang="en-US" sz="1030" dirty="0"/>
          </a:p>
        </p:txBody>
      </p:sp>
      <p:sp>
        <p:nvSpPr>
          <p:cNvPr id="17" name="Shape 11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0A3E45"/>
          </a:solidFill>
          <a:ln/>
        </p:spPr>
      </p:sp>
      <p:pic>
        <p:nvPicPr>
          <p:cNvPr id="18" name="Image 4" descr="icons/ins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6752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523951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C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생산량·가격 데이터 분석에서 증명되듯 충북 사과 시장은 기상·수급 등 외부 변수에 의한 변동 리스크가 매우 큽니다. 공공데이터와 AI 예측을 결합한 선제적 의사결정 지원이야말로 농가 수익 안정과 소비자 물가 안정을 동시에 달성하는 핵심 열쇠입니다.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4008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사과 스마트 유통 플랫폼  ·  2026 충청북도 공공데이터·AI 활용 창업경진대회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0180015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여선희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충북 사과 스마트 유통 플랫폼</dc:title>
  <dc:subject>PptxGenJS Presentation</dc:subject>
  <dc:creator>충북 사과 스마트 유통 플랫폼</dc:creator>
  <cp:lastModifiedBy>충북 사과 스마트 유통 플랫폼</cp:lastModifiedBy>
  <cp:revision>1</cp:revision>
  <dcterms:created xsi:type="dcterms:W3CDTF">2026-07-08T03:30:35Z</dcterms:created>
  <dcterms:modified xsi:type="dcterms:W3CDTF">2026-07-08T03:30:35Z</dcterms:modified>
</cp:coreProperties>
</file>